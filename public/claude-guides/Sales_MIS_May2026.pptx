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nudgeable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  ·  MONTHLY SALES 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Summary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103120" cy="932688"/>
          </a:xfrm>
          <a:prstGeom prst="roundRect">
            <a:avLst>
              <a:gd name="adj" fmla="val 7843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993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₹181.9L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4780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66060" y="1920240"/>
            <a:ext cx="2103120" cy="932688"/>
          </a:xfrm>
          <a:prstGeom prst="roundRect">
            <a:avLst>
              <a:gd name="adj" fmla="val 7843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03220" y="1993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4,477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57500" y="24780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1920240"/>
            <a:ext cx="2103120" cy="932688"/>
          </a:xfrm>
          <a:prstGeom prst="roundRect">
            <a:avLst>
              <a:gd name="adj" fmla="val 7843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1993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20640" y="24780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92340" y="1920240"/>
            <a:ext cx="2103120" cy="932688"/>
          </a:xfrm>
          <a:prstGeom prst="roundRect">
            <a:avLst>
              <a:gd name="adj" fmla="val 7843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29500" y="1993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₹182K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83780" y="24780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55480" y="1920240"/>
            <a:ext cx="2103120" cy="932688"/>
          </a:xfrm>
          <a:prstGeom prst="roundRect">
            <a:avLst>
              <a:gd name="adj" fmla="val 7843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92640" y="1993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₹4.1K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46920" y="24780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Selling Price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0632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REVENUE (₹L)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383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65960" y="3419856"/>
            <a:ext cx="4114800" cy="182880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3419856"/>
            <a:ext cx="2555291" cy="182880"/>
          </a:xfrm>
          <a:prstGeom prst="rect">
            <a:avLst/>
          </a:prstGeom>
          <a:solidFill>
            <a:srgbClr val="623CEA"/>
          </a:solidFill>
          <a:ln w="12700">
            <a:solidFill>
              <a:srgbClr val="623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36210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₹113.1L  (62.1%)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023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65960" y="4059936"/>
            <a:ext cx="4114800" cy="182880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5960" y="4059936"/>
            <a:ext cx="1189177" cy="182880"/>
          </a:xfrm>
          <a:prstGeom prst="rect">
            <a:avLst/>
          </a:prstGeom>
          <a:solidFill>
            <a:srgbClr val="F68A29"/>
          </a:solidFill>
          <a:ln w="12700">
            <a:solidFill>
              <a:srgbClr val="F68A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42611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₹52.6L  (28.9%)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663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65960" y="4700016"/>
            <a:ext cx="4114800" cy="182880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65960" y="4700016"/>
            <a:ext cx="320954" cy="182880"/>
          </a:xfrm>
          <a:prstGeom prst="rect">
            <a:avLst/>
          </a:prstGeom>
          <a:solidFill>
            <a:srgbClr val="23CE68"/>
          </a:solidFill>
          <a:ln w="12700">
            <a:solidFill>
              <a:srgbClr val="23CE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65960" y="49011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₹14.1L  (7.8%)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5303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65960" y="5340096"/>
            <a:ext cx="4114800" cy="182880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65960" y="5340096"/>
            <a:ext cx="109728" cy="182880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65960" y="55412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₹2.2L  (1.2%)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06324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ZONE REVENUE (₹L)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3383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South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52360" y="3429000"/>
            <a:ext cx="3749040" cy="1463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52360" y="3429000"/>
            <a:ext cx="1199693" cy="146304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25205" y="34015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₹58.2L  32%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17920" y="3813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52360" y="3858768"/>
            <a:ext cx="3749040" cy="1463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52360" y="3858768"/>
            <a:ext cx="749808" cy="146304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75320" y="38313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₹36.4L  20%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17920" y="42428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52360" y="4288536"/>
            <a:ext cx="3749040" cy="1463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52360" y="4288536"/>
            <a:ext cx="637337" cy="146304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62849" y="42611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₹31.0L  17%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17920" y="46725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52360" y="4718304"/>
            <a:ext cx="3749040" cy="1463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52360" y="4718304"/>
            <a:ext cx="468630" cy="146304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94142" y="46908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₹22.7L  12.5%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17920" y="51023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East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52360" y="5148072"/>
            <a:ext cx="3749040" cy="1463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52360" y="5148072"/>
            <a:ext cx="404896" cy="146304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30408" y="51206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₹19.6L  10.8%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217920" y="5532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452360" y="5577840"/>
            <a:ext cx="3749040" cy="146304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52360" y="5577840"/>
            <a:ext cx="288676" cy="146304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14188" y="55504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₹14.1L  7.7%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02920" y="5806440"/>
            <a:ext cx="11155680" cy="685800"/>
          </a:xfrm>
          <a:prstGeom prst="roundRect">
            <a:avLst>
              <a:gd name="adj" fmla="val 9333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5800" y="58338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5800" y="60350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 closed at ₹181.9L across 100 orders and 4,477 units, with Distributor channel driving 62% of revenue and South Zone leading geographically at 32% share.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nudgeable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SALES MOVEMENT  ·  MAY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Sales Trend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52144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2139696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2542032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₹43.1L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1536192" cy="640080"/>
          </a:xfrm>
          <a:prstGeom prst="rect">
            <a:avLst/>
          </a:prstGeom>
          <a:solidFill>
            <a:srgbClr val="3A3340"/>
          </a:solidFill>
          <a:ln w="12700">
            <a:solidFill>
              <a:srgbClr val="3A33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50614"/>
            <a:ext cx="1536192" cy="598426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3877056"/>
            <a:ext cx="1755648" cy="9144"/>
          </a:xfrm>
          <a:prstGeom prst="rect">
            <a:avLst/>
          </a:prstGeom>
          <a:solidFill>
            <a:srgbClr val="3A34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931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1732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1,046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" y="4251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17320" y="4251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" y="4572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4572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₹187K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74620" y="1993392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39212" y="2139696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9212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4348" y="2542032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₹34.0L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948940" y="3108960"/>
            <a:ext cx="1536192" cy="640080"/>
          </a:xfrm>
          <a:prstGeom prst="rect">
            <a:avLst/>
          </a:prstGeom>
          <a:solidFill>
            <a:srgbClr val="3A3340"/>
          </a:solidFill>
          <a:ln w="12700">
            <a:solidFill>
              <a:srgbClr val="3A33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48940" y="3276964"/>
            <a:ext cx="1536192" cy="472076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9212" y="3877056"/>
            <a:ext cx="1755648" cy="9144"/>
          </a:xfrm>
          <a:prstGeom prst="rect">
            <a:avLst/>
          </a:prstGeom>
          <a:solidFill>
            <a:srgbClr val="3A34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9212" y="3931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8902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9212" y="4251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89020" y="4251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9212" y="4572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AOV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89020" y="4572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₹179K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1993392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10912" y="2139696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2542032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₹42.8L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120640" y="3108960"/>
            <a:ext cx="1536192" cy="640080"/>
          </a:xfrm>
          <a:prstGeom prst="rect">
            <a:avLst/>
          </a:prstGeom>
          <a:solidFill>
            <a:srgbClr val="3A3340"/>
          </a:solidFill>
          <a:ln w="12700">
            <a:solidFill>
              <a:srgbClr val="3A33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0" y="3154779"/>
            <a:ext cx="1536192" cy="594261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10912" y="3877056"/>
            <a:ext cx="1755648" cy="9144"/>
          </a:xfrm>
          <a:prstGeom prst="rect">
            <a:avLst/>
          </a:prstGeom>
          <a:solidFill>
            <a:srgbClr val="3A34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3931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072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1,102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10912" y="4251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760720" y="4251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10912" y="4572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AOV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760720" y="4572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₹186K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18020" y="1993392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182612" y="2139696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82612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27748" y="2542032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₹46.1L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7292340" y="3108960"/>
            <a:ext cx="1536192" cy="640080"/>
          </a:xfrm>
          <a:prstGeom prst="rect">
            <a:avLst/>
          </a:prstGeom>
          <a:solidFill>
            <a:srgbClr val="B89000"/>
          </a:solidFill>
          <a:ln w="12700">
            <a:solidFill>
              <a:srgbClr val="B89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92340" y="3108960"/>
            <a:ext cx="1536192" cy="640080"/>
          </a:xfrm>
          <a:prstGeom prst="rect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82612" y="3877056"/>
            <a:ext cx="1755648" cy="9144"/>
          </a:xfrm>
          <a:prstGeom prst="rect">
            <a:avLst/>
          </a:prstGeom>
          <a:solidFill>
            <a:srgbClr val="C8A8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82612" y="3931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93242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1,104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82612" y="4251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932420" y="4251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182612" y="4572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AOV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932420" y="4572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₹192K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189720" y="1993392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2D272F"/>
          </a:solidFill>
          <a:ln w="12700">
            <a:solidFill>
              <a:srgbClr val="2D272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354312" y="2139696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ED4551"/>
          </a:solidFill>
          <a:ln w="12700">
            <a:solidFill>
              <a:srgbClr val="ED455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54312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W5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299448" y="2542032"/>
            <a:ext cx="1865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₹16.0L</a:t>
            </a:r>
            <a:endParaRPr lang="en-US" sz="2200" dirty="0"/>
          </a:p>
        </p:txBody>
      </p:sp>
      <p:sp>
        <p:nvSpPr>
          <p:cNvPr id="63" name="Shape 61"/>
          <p:cNvSpPr/>
          <p:nvPr/>
        </p:nvSpPr>
        <p:spPr>
          <a:xfrm>
            <a:off x="9464040" y="3108960"/>
            <a:ext cx="1536192" cy="640080"/>
          </a:xfrm>
          <a:prstGeom prst="rect">
            <a:avLst/>
          </a:prstGeom>
          <a:solidFill>
            <a:srgbClr val="4A3A3F"/>
          </a:solidFill>
          <a:ln w="12700">
            <a:solidFill>
              <a:srgbClr val="4A3A3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64040" y="3526886"/>
            <a:ext cx="1536192" cy="222154"/>
          </a:xfrm>
          <a:prstGeom prst="rect">
            <a:avLst/>
          </a:prstGeom>
          <a:solidFill>
            <a:srgbClr val="ED4551"/>
          </a:solidFill>
          <a:ln w="12700">
            <a:solidFill>
              <a:srgbClr val="ED455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54312" y="3877056"/>
            <a:ext cx="1755648" cy="9144"/>
          </a:xfrm>
          <a:prstGeom prst="rect">
            <a:avLst/>
          </a:prstGeom>
          <a:solidFill>
            <a:srgbClr val="3A34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354312" y="3931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0104120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9354312" y="4251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104120" y="4251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354312" y="4572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AOV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0104120" y="4572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₹145K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02920" y="5148072"/>
            <a:ext cx="11155680" cy="822960"/>
          </a:xfrm>
          <a:prstGeom prst="roundRect">
            <a:avLst>
              <a:gd name="adj" fmla="val 7778"/>
            </a:avLst>
          </a:prstGeom>
          <a:solidFill>
            <a:srgbClr val="2D272F"/>
          </a:solidFill>
          <a:ln w="12700">
            <a:solidFill>
              <a:srgbClr val="2D272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2920" y="5148072"/>
            <a:ext cx="54864" cy="822960"/>
          </a:xfrm>
          <a:prstGeom prst="rect">
            <a:avLst/>
          </a:prstGeom>
          <a:solidFill>
            <a:srgbClr val="F68A29"/>
          </a:solidFill>
          <a:ln w="12700">
            <a:solidFill>
              <a:srgbClr val="F68A2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7512" y="5184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OUT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67512" y="53949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W4 was the strongest week at ₹46.1L (24 orders, AOV ₹192K), while W5 dropped sharply to ₹16.0L, likely a calendar effect with fewer trading days. Monitor whether this carries into early June.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nudgeable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PERFORMANCE  ·  TOP 6 BY REVENUE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Performance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52144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11155680" cy="347472"/>
          </a:xfrm>
          <a:prstGeom prst="rect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48256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04825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2048256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204825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35240" y="204825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89720" y="204825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 Share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40864"/>
            <a:ext cx="11155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40864"/>
            <a:ext cx="36576" cy="566928"/>
          </a:xfrm>
          <a:prstGeom prst="rect">
            <a:avLst/>
          </a:prstGeom>
          <a:solidFill>
            <a:srgbClr val="623CEA"/>
          </a:solidFill>
          <a:ln w="12700">
            <a:solidFill>
              <a:srgbClr val="623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468880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68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2496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OrbitAir 1200mm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2496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₹31.4L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496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35240" y="2496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₹4.8K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89720" y="2551176"/>
            <a:ext cx="1828800" cy="12801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2551176"/>
            <a:ext cx="1572768" cy="128016"/>
          </a:xfrm>
          <a:prstGeom prst="rect">
            <a:avLst/>
          </a:prstGeom>
          <a:solidFill>
            <a:srgbClr val="623CEA"/>
          </a:solidFill>
          <a:ln w="12700">
            <a:solidFill>
              <a:srgbClr val="623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64240" y="24963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17.2%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2907792"/>
            <a:ext cx="11155680" cy="566928"/>
          </a:xfrm>
          <a:prstGeom prst="rect">
            <a:avLst/>
          </a:prstGeom>
          <a:solidFill>
            <a:srgbClr val="FFFDF5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907792"/>
            <a:ext cx="36576" cy="566928"/>
          </a:xfrm>
          <a:prstGeom prst="rect">
            <a:avLst/>
          </a:prstGeom>
          <a:solidFill>
            <a:srgbClr val="F68A29"/>
          </a:solidFill>
          <a:ln w="12700">
            <a:solidFill>
              <a:srgbClr val="F68A2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035808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012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BreezePro 1200mm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26280" y="3063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₹30.6L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₹3.8K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89720" y="3118104"/>
            <a:ext cx="1828800" cy="12801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9720" y="3118104"/>
            <a:ext cx="1536192" cy="128016"/>
          </a:xfrm>
          <a:prstGeom prst="rect">
            <a:avLst/>
          </a:prstGeom>
          <a:solidFill>
            <a:srgbClr val="F68A29"/>
          </a:solidFill>
          <a:ln w="12700">
            <a:solidFill>
              <a:srgbClr val="F68A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64240" y="3063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16.8%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474720"/>
            <a:ext cx="11155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3474720"/>
            <a:ext cx="36576" cy="566928"/>
          </a:xfrm>
          <a:prstGeom prst="rect">
            <a:avLst/>
          </a:prstGeom>
          <a:solidFill>
            <a:srgbClr val="23CE68"/>
          </a:solidFill>
          <a:ln w="12700">
            <a:solidFill>
              <a:srgbClr val="23CE6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3602736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602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60120" y="3630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SkyGlide 1200mm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26280" y="3630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₹29.7L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09360" y="3630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35240" y="36301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₹4.5K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89720" y="3685032"/>
            <a:ext cx="1828800" cy="12801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89720" y="3685032"/>
            <a:ext cx="1490472" cy="128016"/>
          </a:xfrm>
          <a:prstGeom prst="rect">
            <a:avLst/>
          </a:prstGeom>
          <a:solidFill>
            <a:srgbClr val="23CE68"/>
          </a:solidFill>
          <a:ln w="12700">
            <a:solidFill>
              <a:srgbClr val="23CE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064240" y="36301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16.3%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4041648"/>
            <a:ext cx="11155680" cy="566928"/>
          </a:xfrm>
          <a:prstGeom prst="rect">
            <a:avLst/>
          </a:prstGeom>
          <a:solidFill>
            <a:srgbClr val="FFFDF5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4041648"/>
            <a:ext cx="36576" cy="566928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" y="4169664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169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60120" y="4197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WindLeaf 1200mm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26280" y="4197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₹21.9L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309360" y="4197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635240" y="41970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₹3.9K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189720" y="4251960"/>
            <a:ext cx="1828800" cy="12801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89720" y="4251960"/>
            <a:ext cx="1097280" cy="128016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064240" y="41970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02920" y="4608576"/>
            <a:ext cx="11155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4608576"/>
            <a:ext cx="36576" cy="566928"/>
          </a:xfrm>
          <a:prstGeom prst="rect">
            <a:avLst/>
          </a:prstGeom>
          <a:solidFill>
            <a:srgbClr val="623CEA"/>
          </a:solidFill>
          <a:ln w="12700">
            <a:solidFill>
              <a:srgbClr val="623C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" y="4736592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4736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960120" y="4764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NovaSpin 1200mm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526280" y="4764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₹18.0L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309360" y="47640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418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635240" y="4764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₹4.3K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189720" y="4818888"/>
            <a:ext cx="1828800" cy="12801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89720" y="4818888"/>
            <a:ext cx="905256" cy="128016"/>
          </a:xfrm>
          <a:prstGeom prst="rect">
            <a:avLst/>
          </a:prstGeom>
          <a:solidFill>
            <a:srgbClr val="623CEA"/>
          </a:solidFill>
          <a:ln w="12700">
            <a:solidFill>
              <a:srgbClr val="623CE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064240" y="47640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9.9%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02920" y="5175504"/>
            <a:ext cx="11155680" cy="566928"/>
          </a:xfrm>
          <a:prstGeom prst="rect">
            <a:avLst/>
          </a:prstGeom>
          <a:solidFill>
            <a:srgbClr val="FFFDF5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" y="5175504"/>
            <a:ext cx="36576" cy="566928"/>
          </a:xfrm>
          <a:prstGeom prst="rect">
            <a:avLst/>
          </a:prstGeom>
          <a:solidFill>
            <a:srgbClr val="ED4551"/>
          </a:solidFill>
          <a:ln w="12700">
            <a:solidFill>
              <a:srgbClr val="ED455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4360" y="5303520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4360" y="5303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60120" y="5330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ZephyrLux 1200mm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526280" y="5330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₹17.9L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6309360" y="5330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354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7635240" y="5330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₹5.0K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9189720" y="5385816"/>
            <a:ext cx="1828800" cy="128016"/>
          </a:xfrm>
          <a:prstGeom prst="rect">
            <a:avLst/>
          </a:prstGeom>
          <a:solidFill>
            <a:srgbClr val="E8E6DC"/>
          </a:solidFill>
          <a:ln w="12700">
            <a:solidFill>
              <a:srgbClr val="E8E6D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189720" y="5385816"/>
            <a:ext cx="896112" cy="128016"/>
          </a:xfrm>
          <a:prstGeom prst="rect">
            <a:avLst/>
          </a:prstGeom>
          <a:solidFill>
            <a:srgbClr val="ED4551"/>
          </a:solidFill>
          <a:ln w="12700">
            <a:solidFill>
              <a:srgbClr val="ED455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064240" y="5330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9.8%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02920" y="5733288"/>
            <a:ext cx="11155680" cy="749808"/>
          </a:xfrm>
          <a:prstGeom prst="roundRect">
            <a:avLst>
              <a:gd name="adj" fmla="val 8537"/>
            </a:avLst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02920" y="5733288"/>
            <a:ext cx="54864" cy="749808"/>
          </a:xfrm>
          <a:prstGeom prst="rect">
            <a:avLst/>
          </a:prstGeom>
          <a:solidFill>
            <a:srgbClr val="23CE68"/>
          </a:solidFill>
          <a:ln w="12700">
            <a:solidFill>
              <a:srgbClr val="23CE6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7512" y="57607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3C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WORKING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67512" y="59710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OrbitAir 1200mm led revenue at ₹31.4L (17.2%), with the top-3 models together contributing 50.3% of total sales. BreezePro 1200mm is the volume champion at 814 units, while ZephyrLux 1200mm commands the highest ASP at ₹5K, indicating a healthy mix of volume and premium play.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nudgeable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PEOPLE, CLIENTS &amp; CHANNELS  ·  MAY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People, Clients &amp; Channels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52144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CLIENTS BY REVENUE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53035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331720"/>
            <a:ext cx="45720" cy="576072"/>
          </a:xfrm>
          <a:prstGeom prst="rect">
            <a:avLst/>
          </a:prstGeom>
          <a:solidFill>
            <a:srgbClr val="623CEA"/>
          </a:solidFill>
          <a:ln w="12700">
            <a:solidFill>
              <a:srgbClr val="623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" y="2487168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41832" y="2404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 Power Distributors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26517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₹24.1L  ·  566 units  ·  9 orders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53035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990088"/>
            <a:ext cx="45720" cy="576072"/>
          </a:xfrm>
          <a:prstGeom prst="rect">
            <a:avLst/>
          </a:prstGeom>
          <a:solidFill>
            <a:srgbClr val="F68A29"/>
          </a:solidFill>
          <a:ln w="12700">
            <a:solidFill>
              <a:srgbClr val="F68A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" y="3145536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145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1832" y="3063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Vardhan Traders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" y="3310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₹21.5L  ·  532 units  ·  9 orders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648456"/>
            <a:ext cx="53035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648456"/>
            <a:ext cx="45720" cy="576072"/>
          </a:xfrm>
          <a:prstGeom prst="rect">
            <a:avLst/>
          </a:prstGeom>
          <a:solidFill>
            <a:srgbClr val="23CE68"/>
          </a:solidFill>
          <a:ln w="12700">
            <a:solidFill>
              <a:srgbClr val="23CE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" y="3803904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803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41832" y="37216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Eastern Supply Co.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" y="39684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₹18.3L  ·  428 units  ·  6 orders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4306824"/>
            <a:ext cx="53035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306824"/>
            <a:ext cx="45720" cy="576072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462272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41832" y="4379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Shree Trade Links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1832" y="46268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₹17.8L  ·  442 units  ·  6 orders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4965192"/>
            <a:ext cx="53035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4965192"/>
            <a:ext cx="45720" cy="576072"/>
          </a:xfrm>
          <a:prstGeom prst="rect">
            <a:avLst/>
          </a:prstGeom>
          <a:solidFill>
            <a:srgbClr val="ED4551"/>
          </a:solidFill>
          <a:ln w="12700">
            <a:solidFill>
              <a:srgbClr val="ED45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5120640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5120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41832" y="50383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CityCare Hospitals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41832" y="5285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₹11.7L  ·  317 units  ·  6 orders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26480" y="19933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5 SALESPEOPLE BY REVENUE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2331720"/>
            <a:ext cx="37033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331720"/>
            <a:ext cx="45720" cy="576072"/>
          </a:xfrm>
          <a:prstGeom prst="rect">
            <a:avLst/>
          </a:prstGeom>
          <a:solidFill>
            <a:srgbClr val="623CEA"/>
          </a:solidFill>
          <a:ln w="12700">
            <a:solidFill>
              <a:srgbClr val="623C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2487168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565392" y="2404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Deepa Menon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65392" y="2651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₹27.8L  ·  15.3%  ·  14 orders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2990088"/>
            <a:ext cx="37033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2990088"/>
            <a:ext cx="45720" cy="576072"/>
          </a:xfrm>
          <a:prstGeom prst="rect">
            <a:avLst/>
          </a:prstGeom>
          <a:solidFill>
            <a:srgbClr val="F68A29"/>
          </a:solidFill>
          <a:ln w="12700">
            <a:solidFill>
              <a:srgbClr val="F68A2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36208" y="3145536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3145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65392" y="3063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 Singh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65392" y="3310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₹24.9L  ·  13.7%  ·  11 orders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26480" y="3648456"/>
            <a:ext cx="37033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26480" y="3648456"/>
            <a:ext cx="45720" cy="576072"/>
          </a:xfrm>
          <a:prstGeom prst="rect">
            <a:avLst/>
          </a:prstGeom>
          <a:solidFill>
            <a:srgbClr val="23CE68"/>
          </a:solidFill>
          <a:ln w="12700">
            <a:solidFill>
              <a:srgbClr val="23CE6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36208" y="3803904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6208" y="3803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65392" y="3721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Nikhil Sharma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565392" y="39684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₹22.7L  ·  12.5%  ·  9 orders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26480" y="4306824"/>
            <a:ext cx="37033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26480" y="4306824"/>
            <a:ext cx="45720" cy="576072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36208" y="4462272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3620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65392" y="43799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Sneha Reddy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565392" y="46268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₹19.1L  ·  10.5%  ·  11 orders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26480" y="4965192"/>
            <a:ext cx="3703320" cy="57607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126480" y="4965192"/>
            <a:ext cx="45720" cy="576072"/>
          </a:xfrm>
          <a:prstGeom prst="rect">
            <a:avLst/>
          </a:prstGeom>
          <a:solidFill>
            <a:srgbClr val="ED4551"/>
          </a:solidFill>
          <a:ln w="12700">
            <a:solidFill>
              <a:srgbClr val="ED455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36208" y="5120640"/>
            <a:ext cx="237744" cy="237744"/>
          </a:xfrm>
          <a:prstGeom prst="ellipse">
            <a:avLst/>
          </a:prstGeom>
          <a:solidFill>
            <a:srgbClr val="221D23"/>
          </a:solidFill>
          <a:ln w="12700">
            <a:solidFill>
              <a:srgbClr val="221D2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36208" y="5120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565392" y="50383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Rohit Jain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565392" y="5285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₹18.6L  ·  10.2%  ·  16 orders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058400" y="1993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68A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MIX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0058400" y="2331720"/>
            <a:ext cx="1920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58400" y="2331720"/>
            <a:ext cx="45720" cy="621792"/>
          </a:xfrm>
          <a:prstGeom prst="rect">
            <a:avLst/>
          </a:prstGeom>
          <a:solidFill>
            <a:srgbClr val="623CEA"/>
          </a:solidFill>
          <a:ln w="12700">
            <a:solidFill>
              <a:srgbClr val="623CE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168128" y="23865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62.1%</a:t>
            </a:r>
            <a:endParaRPr lang="en-US" sz="1700" dirty="0"/>
          </a:p>
        </p:txBody>
      </p:sp>
      <p:sp>
        <p:nvSpPr>
          <p:cNvPr id="73" name="Text 71"/>
          <p:cNvSpPr/>
          <p:nvPr/>
        </p:nvSpPr>
        <p:spPr>
          <a:xfrm>
            <a:off x="10168128" y="26609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Distributor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058400" y="3054096"/>
            <a:ext cx="1920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58400" y="3054096"/>
            <a:ext cx="45720" cy="621792"/>
          </a:xfrm>
          <a:prstGeom prst="rect">
            <a:avLst/>
          </a:prstGeom>
          <a:solidFill>
            <a:srgbClr val="F68A29"/>
          </a:solidFill>
          <a:ln w="12700">
            <a:solidFill>
              <a:srgbClr val="F68A2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168128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28.9%</a:t>
            </a:r>
            <a:endParaRPr lang="en-US" sz="1700" dirty="0"/>
          </a:p>
        </p:txBody>
      </p:sp>
      <p:sp>
        <p:nvSpPr>
          <p:cNvPr id="77" name="Text 75"/>
          <p:cNvSpPr/>
          <p:nvPr/>
        </p:nvSpPr>
        <p:spPr>
          <a:xfrm>
            <a:off x="10168128" y="3383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Institutional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0058400" y="3776472"/>
            <a:ext cx="1920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058400" y="3776472"/>
            <a:ext cx="45720" cy="621792"/>
          </a:xfrm>
          <a:prstGeom prst="rect">
            <a:avLst/>
          </a:prstGeom>
          <a:solidFill>
            <a:srgbClr val="23CE68"/>
          </a:solidFill>
          <a:ln w="12700">
            <a:solidFill>
              <a:srgbClr val="23CE6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168128" y="3831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7.8%</a:t>
            </a:r>
            <a:endParaRPr lang="en-US" sz="1700" dirty="0"/>
          </a:p>
        </p:txBody>
      </p:sp>
      <p:sp>
        <p:nvSpPr>
          <p:cNvPr id="81" name="Text 79"/>
          <p:cNvSpPr/>
          <p:nvPr/>
        </p:nvSpPr>
        <p:spPr>
          <a:xfrm>
            <a:off x="10168128" y="41056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0058400" y="4498848"/>
            <a:ext cx="1920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E8E6D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58400" y="4498848"/>
            <a:ext cx="45720" cy="621792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168128" y="4553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D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</a:t>
            </a:r>
            <a:endParaRPr lang="en-US" sz="1700" dirty="0"/>
          </a:p>
        </p:txBody>
      </p:sp>
      <p:sp>
        <p:nvSpPr>
          <p:cNvPr id="85" name="Text 83"/>
          <p:cNvSpPr/>
          <p:nvPr/>
        </p:nvSpPr>
        <p:spPr>
          <a:xfrm>
            <a:off x="10168128" y="4828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02920" y="5733288"/>
            <a:ext cx="11155680" cy="749808"/>
          </a:xfrm>
          <a:prstGeom prst="roundRect">
            <a:avLst>
              <a:gd name="adj" fmla="val 8537"/>
            </a:avLst>
          </a:prstGeom>
          <a:solidFill>
            <a:srgbClr val="2D272F"/>
          </a:solidFill>
          <a:ln w="12700">
            <a:solidFill>
              <a:srgbClr val="2D272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02920" y="5733288"/>
            <a:ext cx="54864" cy="749808"/>
          </a:xfrm>
          <a:prstGeom prst="rect">
            <a:avLst/>
          </a:prstGeom>
          <a:solidFill>
            <a:srgbClr val="FFCE00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7512" y="5760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CE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NEEDED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67512" y="59618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Deepa Menon led at ₹27.8L (15.3%), with top-3 salespeople accounting for 41.5% of revenue, which is a healthy spread. Top-5 clients contributed 51.3% of the month's business, with Distributor channel dominant at 62.1%; re-activating mid-tier accounts could reduce key-client concentration.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2026-06-04T03:19:17Z</dcterms:created>
  <dcterms:modified xsi:type="dcterms:W3CDTF">2026-06-04T03:19:17Z</dcterms:modified>
</cp:coreProperties>
</file>